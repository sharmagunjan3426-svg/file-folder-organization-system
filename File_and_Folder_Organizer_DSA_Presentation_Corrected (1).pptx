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960120"/>
            <a:ext cx="109728" cy="4480560"/>
          </a:xfrm>
          <a:prstGeom prst="rect">
            <a:avLst/>
          </a:prstGeom>
          <a:solidFill>
            <a:srgbClr val="5A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132588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FFFFFF"/>
                </a:solidFill>
              </a:defRPr>
            </a:pPr>
            <a:r>
              <a:t>FILE AND FOLDER</a:t>
            </a:r>
            <a:br/>
            <a:r>
              <a:t>ORGANIZER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" y="297180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B4D7F5"/>
                </a:solidFill>
              </a:defRPr>
            </a:pPr>
            <a:r>
              <a:t>DSA PROJECT • BCA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" y="3794760"/>
            <a:ext cx="9144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FFFFFF"/>
                </a:solidFill>
              </a:defRPr>
            </a:pPr>
            <a:r>
              <a:t>Presented by: Your Name</a:t>
            </a:r>
          </a:p>
          <a:p>
            <a:pPr>
              <a:defRPr sz="1700">
                <a:solidFill>
                  <a:srgbClr val="FFFFFF"/>
                </a:solidFill>
              </a:defRPr>
            </a:pPr>
            <a:r>
              <a:t>College: Your College Name</a:t>
            </a:r>
          </a:p>
          <a:p>
            <a:pPr>
              <a:defRPr sz="1700">
                <a:solidFill>
                  <a:srgbClr val="FFFFFF"/>
                </a:solidFill>
              </a:defRPr>
            </a:pPr>
            <a:r>
              <a:t>Session: 2026–27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0" y="3977639"/>
            <a:ext cx="1554480" cy="1143000"/>
          </a:xfrm>
          <a:prstGeom prst="roundRect">
            <a:avLst/>
          </a:prstGeom>
          <a:solidFill>
            <a:srgbClr val="5AA0D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784080" y="3767328"/>
            <a:ext cx="685800" cy="320040"/>
          </a:xfrm>
          <a:prstGeom prst="rect">
            <a:avLst/>
          </a:prstGeom>
          <a:solidFill>
            <a:srgbClr val="5AA0D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146304"/>
            <a:ext cx="502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F5597"/>
                </a:solidFill>
              </a:defRPr>
            </a:pPr>
            <a:r>
              <a:t>What is a File and Folder Organizer?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105156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>
                <a:solidFill>
                  <a:srgbClr val="232B34"/>
                </a:solidFill>
              </a:defRPr>
            </a:pPr>
            <a:r>
              <a:t>• A software application that helps manage files efficiently.</a:t>
            </a:r>
          </a:p>
          <a:p>
            <a:pPr>
              <a:spcAft>
                <a:spcPts val="1500"/>
              </a:spcAft>
              <a:defRPr sz="2000">
                <a:solidFill>
                  <a:srgbClr val="232B34"/>
                </a:solidFill>
              </a:defRPr>
            </a:pPr>
            <a:r>
              <a:t>• It arranges files into folders according to their type, extension, or category.</a:t>
            </a:r>
          </a:p>
          <a:p>
            <a:pPr>
              <a:spcAft>
                <a:spcPts val="1500"/>
              </a:spcAft>
              <a:defRPr sz="2000">
                <a:solidFill>
                  <a:srgbClr val="232B34"/>
                </a:solidFill>
              </a:defRPr>
            </a:pPr>
            <a:r>
              <a:t>• It reduces the time required to manually organize files.</a:t>
            </a:r>
          </a:p>
          <a:p>
            <a:pPr>
              <a:spcAft>
                <a:spcPts val="1500"/>
              </a:spcAft>
              <a:defRPr sz="2000">
                <a:solidFill>
                  <a:srgbClr val="232B34"/>
                </a:solidFill>
              </a:defRPr>
            </a:pPr>
            <a:r>
              <a:t>• It demonstrates the practical use of Data Structures and Algorithms.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537960"/>
            <a:ext cx="11155680" cy="18288"/>
          </a:xfrm>
          <a:prstGeom prst="rect">
            <a:avLst/>
          </a:prstGeom>
          <a:solidFill>
            <a:srgbClr val="BEC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74536"/>
            <a:ext cx="5486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37D"/>
                </a:solidFill>
              </a:defRPr>
            </a:pPr>
            <a:r>
              <a:t>BCA • Data Structures &amp; Algorithms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146304"/>
            <a:ext cx="502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32B34"/>
                </a:solidFill>
              </a:defRPr>
            </a:pPr>
            <a:r>
              <a:t>• Computers often contain a large number of unorganized files.</a:t>
            </a:r>
          </a:p>
          <a:p>
            <a:pPr>
              <a:spcAft>
                <a:spcPts val="1200"/>
              </a:spcAft>
              <a:defRPr sz="2000">
                <a:solidFill>
                  <a:srgbClr val="232B34"/>
                </a:solidFill>
              </a:defRPr>
            </a:pPr>
            <a:r>
              <a:t>• Finding a particular file can become difficult.</a:t>
            </a:r>
          </a:p>
          <a:p>
            <a:pPr>
              <a:spcAft>
                <a:spcPts val="1200"/>
              </a:spcAft>
              <a:defRPr sz="2000">
                <a:solidFill>
                  <a:srgbClr val="232B34"/>
                </a:solidFill>
              </a:defRPr>
            </a:pPr>
            <a:r>
              <a:t>• Manually moving files into different folders takes time.</a:t>
            </a:r>
          </a:p>
          <a:p>
            <a:pPr>
              <a:spcAft>
                <a:spcPts val="1200"/>
              </a:spcAft>
              <a:defRPr sz="2000">
                <a:solidFill>
                  <a:srgbClr val="232B34"/>
                </a:solidFill>
              </a:defRPr>
            </a:pPr>
            <a:r>
              <a:t>• Different file extensions are often mixed together.</a:t>
            </a:r>
          </a:p>
          <a:p>
            <a:pPr>
              <a:spcAft>
                <a:spcPts val="1200"/>
              </a:spcAft>
              <a:defRPr sz="2000">
                <a:solidFill>
                  <a:srgbClr val="232B34"/>
                </a:solidFill>
              </a:defRPr>
            </a:pPr>
            <a:r>
              <a:t>• Our project provides an automatic way to organize files.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537960"/>
            <a:ext cx="11155680" cy="18288"/>
          </a:xfrm>
          <a:prstGeom prst="rect">
            <a:avLst/>
          </a:prstGeom>
          <a:solidFill>
            <a:srgbClr val="BEC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74536"/>
            <a:ext cx="5486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37D"/>
                </a:solidFill>
              </a:defRPr>
            </a:pPr>
            <a:r>
              <a:t>BCA • Data Structures &amp; Algorithms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146304"/>
            <a:ext cx="502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32B34"/>
                </a:solidFill>
              </a:defRPr>
            </a:pPr>
            <a:r>
              <a:t>• Organize files automatically.</a:t>
            </a:r>
          </a:p>
          <a:p>
            <a:pPr>
              <a:spcAft>
                <a:spcPts val="1200"/>
              </a:spcAft>
              <a:defRPr sz="2000">
                <a:solidFill>
                  <a:srgbClr val="232B34"/>
                </a:solidFill>
              </a:defRPr>
            </a:pPr>
            <a:r>
              <a:t>• Classify files according to their extensions.</a:t>
            </a:r>
          </a:p>
          <a:p>
            <a:pPr>
              <a:spcAft>
                <a:spcPts val="1200"/>
              </a:spcAft>
              <a:defRPr sz="2000">
                <a:solidFill>
                  <a:srgbClr val="232B34"/>
                </a:solidFill>
              </a:defRPr>
            </a:pPr>
            <a:r>
              <a:t>• Create folders for different file categories.</a:t>
            </a:r>
          </a:p>
          <a:p>
            <a:pPr>
              <a:spcAft>
                <a:spcPts val="1200"/>
              </a:spcAft>
              <a:defRPr sz="2000">
                <a:solidFill>
                  <a:srgbClr val="232B34"/>
                </a:solidFill>
              </a:defRPr>
            </a:pPr>
            <a:r>
              <a:t>• Reduce manual effort and save time.</a:t>
            </a:r>
          </a:p>
          <a:p>
            <a:pPr>
              <a:spcAft>
                <a:spcPts val="1200"/>
              </a:spcAft>
              <a:defRPr sz="2000">
                <a:solidFill>
                  <a:srgbClr val="232B34"/>
                </a:solidFill>
              </a:defRPr>
            </a:pPr>
            <a:r>
              <a:t>• Demonstrate practical implementation of DSA concepts.</a:t>
            </a:r>
          </a:p>
          <a:p>
            <a:pPr>
              <a:spcAft>
                <a:spcPts val="1200"/>
              </a:spcAft>
              <a:defRPr sz="2000">
                <a:solidFill>
                  <a:srgbClr val="232B34"/>
                </a:solidFill>
              </a:defRPr>
            </a:pPr>
            <a:r>
              <a:t>• Provide a simple and user-friendly solution.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537960"/>
            <a:ext cx="11155680" cy="18288"/>
          </a:xfrm>
          <a:prstGeom prst="rect">
            <a:avLst/>
          </a:prstGeom>
          <a:solidFill>
            <a:srgbClr val="BEC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74536"/>
            <a:ext cx="5486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37D"/>
                </a:solidFill>
              </a:defRPr>
            </a:pPr>
            <a:r>
              <a:t>BCA • Data Structures &amp; Algorithms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Proposed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146304"/>
            <a:ext cx="502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16459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7365D"/>
                </a:solidFill>
              </a:defRPr>
            </a:pPr>
            <a:r>
              <a:t>Input Folder</a:t>
            </a:r>
          </a:p>
        </p:txBody>
      </p:sp>
      <p:sp>
        <p:nvSpPr>
          <p:cNvPr id="7" name="Chevron 6"/>
          <p:cNvSpPr/>
          <p:nvPr/>
        </p:nvSpPr>
        <p:spPr>
          <a:xfrm>
            <a:off x="2176272" y="2121408"/>
            <a:ext cx="411480" cy="365760"/>
          </a:xfrm>
          <a:prstGeom prst="chevron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404872" y="1828800"/>
            <a:ext cx="16459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7365D"/>
                </a:solidFill>
              </a:defRPr>
            </a:pPr>
            <a:r>
              <a:t>Read Files</a:t>
            </a:r>
          </a:p>
        </p:txBody>
      </p:sp>
      <p:sp>
        <p:nvSpPr>
          <p:cNvPr id="9" name="Chevron 8"/>
          <p:cNvSpPr/>
          <p:nvPr/>
        </p:nvSpPr>
        <p:spPr>
          <a:xfrm>
            <a:off x="4078224" y="2121408"/>
            <a:ext cx="411480" cy="365760"/>
          </a:xfrm>
          <a:prstGeom prst="chevron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06824" y="1828800"/>
            <a:ext cx="16459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7365D"/>
                </a:solidFill>
              </a:defRPr>
            </a:pPr>
            <a:r>
              <a:t>Identify Extension</a:t>
            </a:r>
          </a:p>
        </p:txBody>
      </p:sp>
      <p:sp>
        <p:nvSpPr>
          <p:cNvPr id="11" name="Chevron 10"/>
          <p:cNvSpPr/>
          <p:nvPr/>
        </p:nvSpPr>
        <p:spPr>
          <a:xfrm>
            <a:off x="5980176" y="2121408"/>
            <a:ext cx="411480" cy="365760"/>
          </a:xfrm>
          <a:prstGeom prst="chevron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08776" y="1828800"/>
            <a:ext cx="16459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7365D"/>
                </a:solidFill>
              </a:defRPr>
            </a:pPr>
            <a:r>
              <a:t>Classify File</a:t>
            </a:r>
          </a:p>
        </p:txBody>
      </p:sp>
      <p:sp>
        <p:nvSpPr>
          <p:cNvPr id="13" name="Chevron 12"/>
          <p:cNvSpPr/>
          <p:nvPr/>
        </p:nvSpPr>
        <p:spPr>
          <a:xfrm>
            <a:off x="7882128" y="2121408"/>
            <a:ext cx="411480" cy="365760"/>
          </a:xfrm>
          <a:prstGeom prst="chevron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110728" y="1828800"/>
            <a:ext cx="16459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7365D"/>
                </a:solidFill>
              </a:defRPr>
            </a:pPr>
            <a:r>
              <a:t>Create / Select Folder</a:t>
            </a:r>
          </a:p>
        </p:txBody>
      </p:sp>
      <p:sp>
        <p:nvSpPr>
          <p:cNvPr id="15" name="Chevron 14"/>
          <p:cNvSpPr/>
          <p:nvPr/>
        </p:nvSpPr>
        <p:spPr>
          <a:xfrm>
            <a:off x="9784080" y="2121408"/>
            <a:ext cx="411480" cy="365760"/>
          </a:xfrm>
          <a:prstGeom prst="chevron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0012680" y="1828800"/>
            <a:ext cx="16459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7365D"/>
                </a:solidFill>
              </a:defRPr>
            </a:pPr>
            <a:r>
              <a:t>Move File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749039"/>
            <a:ext cx="1033272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2F5597"/>
                </a:solidFill>
              </a:defRPr>
            </a:pPr>
            <a:r>
              <a:t>Example organization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4343400"/>
            <a:ext cx="228600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BEC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232B34"/>
                </a:solidFill>
              </a:defRPr>
            </a:pPr>
            <a:r>
              <a:t>Images</a:t>
            </a:r>
            <a:br/>
            <a:r>
              <a:t>JPG, PNG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0" y="4343400"/>
            <a:ext cx="228600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BEC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232B34"/>
                </a:solidFill>
              </a:defRPr>
            </a:pPr>
            <a:r>
              <a:t>Documents</a:t>
            </a:r>
            <a:br/>
            <a:r>
              <a:t>PDF, DOCX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4343400"/>
            <a:ext cx="228600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BEC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232B34"/>
                </a:solidFill>
              </a:defRPr>
            </a:pPr>
            <a:r>
              <a:t>Videos</a:t>
            </a:r>
            <a:br/>
            <a:r>
              <a:t>MP4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0" y="4343400"/>
            <a:ext cx="228600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BEC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232B34"/>
                </a:solidFill>
              </a:defRPr>
            </a:pPr>
            <a:r>
              <a:t>Music</a:t>
            </a:r>
            <a:br/>
            <a:r>
              <a:t>MP3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6537960"/>
            <a:ext cx="11155680" cy="18288"/>
          </a:xfrm>
          <a:prstGeom prst="rect">
            <a:avLst/>
          </a:prstGeom>
          <a:solidFill>
            <a:srgbClr val="BEC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6574536"/>
            <a:ext cx="5486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37D"/>
                </a:solidFill>
              </a:defRPr>
            </a:pPr>
            <a:r>
              <a:t>BCA • Data Structures &amp; Algorithms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Data Structures Used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146304"/>
            <a:ext cx="502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32B34"/>
                </a:solidFill>
              </a:defRPr>
            </a:pPr>
            <a:r>
              <a:t>• Arrays — store file names, extensions, or categories.</a:t>
            </a:r>
          </a:p>
          <a:p>
            <a:pPr>
              <a:spcAft>
                <a:spcPts val="1200"/>
              </a:spcAft>
              <a:defRPr sz="1900">
                <a:solidFill>
                  <a:srgbClr val="232B34"/>
                </a:solidFill>
              </a:defRPr>
            </a:pPr>
            <a:r>
              <a:t>• Strings — handle file names and extensions.</a:t>
            </a:r>
          </a:p>
          <a:p>
            <a:pPr>
              <a:spcAft>
                <a:spcPts val="1200"/>
              </a:spcAft>
              <a:defRPr sz="1900">
                <a:solidFill>
                  <a:srgbClr val="232B34"/>
                </a:solidFill>
              </a:defRPr>
            </a:pPr>
            <a:r>
              <a:t>• Structures (struct) — store information about files.</a:t>
            </a:r>
          </a:p>
          <a:p>
            <a:pPr>
              <a:spcAft>
                <a:spcPts val="1200"/>
              </a:spcAft>
              <a:defRPr sz="1900">
                <a:solidFill>
                  <a:srgbClr val="232B34"/>
                </a:solidFill>
              </a:defRPr>
            </a:pPr>
            <a:r>
              <a:t>• Linked List (optional) — maintain a dynamic collection of files.</a:t>
            </a:r>
          </a:p>
          <a:p>
            <a:pPr>
              <a:spcAft>
                <a:spcPts val="1200"/>
              </a:spcAft>
              <a:defRPr sz="1900">
                <a:solidFill>
                  <a:srgbClr val="232B34"/>
                </a:solidFill>
              </a:defRPr>
            </a:pPr>
            <a:r>
              <a:t>• Stack / Queue (optional) — process files in a particular order.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5212080"/>
            <a:ext cx="3840480" cy="685800"/>
          </a:xfrm>
          <a:prstGeom prst="roundRect">
            <a:avLst/>
          </a:prstGeom>
          <a:solidFill>
            <a:srgbClr val="E1EBF8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7365D"/>
                </a:solidFill>
              </a:defRPr>
            </a:pPr>
            <a:r>
              <a:t>Main focus: Arrays + Strings + Structures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537960"/>
            <a:ext cx="11155680" cy="18288"/>
          </a:xfrm>
          <a:prstGeom prst="rect">
            <a:avLst/>
          </a:prstGeom>
          <a:solidFill>
            <a:srgbClr val="BEC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74536"/>
            <a:ext cx="5486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37D"/>
                </a:solidFill>
              </a:defRPr>
            </a:pPr>
            <a:r>
              <a:t>BCA • Data Structures &amp; Algorithms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Algorithm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146304"/>
            <a:ext cx="502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51560"/>
            <a:ext cx="10698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32B34"/>
                </a:solidFill>
              </a:defRPr>
            </a:pPr>
            <a:r>
              <a:t>• Start the program</a:t>
            </a:r>
          </a:p>
          <a:p>
            <a:pPr>
              <a:spcAft>
                <a:spcPts val="1200"/>
              </a:spcAft>
              <a:defRPr sz="1600">
                <a:solidFill>
                  <a:srgbClr val="232B34"/>
                </a:solidFill>
              </a:defRPr>
            </a:pPr>
            <a:r>
              <a:t>• Ask the user for the folder path</a:t>
            </a:r>
          </a:p>
          <a:p>
            <a:pPr>
              <a:spcAft>
                <a:spcPts val="1200"/>
              </a:spcAft>
              <a:defRPr sz="1600">
                <a:solidFill>
                  <a:srgbClr val="232B34"/>
                </a:solidFill>
              </a:defRPr>
            </a:pPr>
            <a:r>
              <a:t>• Read files present in the folder</a:t>
            </a:r>
          </a:p>
          <a:p>
            <a:pPr>
              <a:spcAft>
                <a:spcPts val="1200"/>
              </a:spcAft>
              <a:defRPr sz="1600">
                <a:solidFill>
                  <a:srgbClr val="232B34"/>
                </a:solidFill>
              </a:defRPr>
            </a:pPr>
            <a:r>
              <a:t>• Extract the extension of each file</a:t>
            </a:r>
          </a:p>
          <a:p>
            <a:pPr>
              <a:spcAft>
                <a:spcPts val="1200"/>
              </a:spcAft>
              <a:defRPr sz="1600">
                <a:solidFill>
                  <a:srgbClr val="232B34"/>
                </a:solidFill>
              </a:defRPr>
            </a:pPr>
            <a:r>
              <a:t>• Compare extension with predefined categories</a:t>
            </a:r>
          </a:p>
          <a:p>
            <a:pPr>
              <a:spcAft>
                <a:spcPts val="1200"/>
              </a:spcAft>
              <a:defRPr sz="1600">
                <a:solidFill>
                  <a:srgbClr val="232B34"/>
                </a:solidFill>
              </a:defRPr>
            </a:pPr>
            <a:r>
              <a:t>• Select or create the destination folder</a:t>
            </a:r>
          </a:p>
          <a:p>
            <a:pPr>
              <a:spcAft>
                <a:spcPts val="1200"/>
              </a:spcAft>
              <a:defRPr sz="1600">
                <a:solidFill>
                  <a:srgbClr val="232B34"/>
                </a:solidFill>
              </a:defRPr>
            </a:pPr>
            <a:r>
              <a:t>• Move / copy the file</a:t>
            </a:r>
          </a:p>
          <a:p>
            <a:pPr>
              <a:spcAft>
                <a:spcPts val="1200"/>
              </a:spcAft>
              <a:defRPr sz="1600">
                <a:solidFill>
                  <a:srgbClr val="232B34"/>
                </a:solidFill>
              </a:defRPr>
            </a:pPr>
            <a:r>
              <a:t>• Repeat until all files are processed</a:t>
            </a:r>
          </a:p>
          <a:p>
            <a:pPr>
              <a:spcAft>
                <a:spcPts val="1200"/>
              </a:spcAft>
              <a:defRPr sz="1600">
                <a:solidFill>
                  <a:srgbClr val="232B34"/>
                </a:solidFill>
              </a:defRPr>
            </a:pPr>
            <a:r>
              <a:t>• Display the organized result</a:t>
            </a:r>
          </a:p>
          <a:p>
            <a:pPr>
              <a:spcAft>
                <a:spcPts val="1200"/>
              </a:spcAft>
              <a:defRPr sz="1600">
                <a:solidFill>
                  <a:srgbClr val="232B34"/>
                </a:solidFill>
              </a:defRPr>
            </a:pPr>
            <a:r>
              <a:t>• Stop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537960"/>
            <a:ext cx="11155680" cy="18288"/>
          </a:xfrm>
          <a:prstGeom prst="rect">
            <a:avLst/>
          </a:prstGeom>
          <a:solidFill>
            <a:srgbClr val="BEC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74536"/>
            <a:ext cx="5486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37D"/>
                </a:solidFill>
              </a:defRPr>
            </a:pPr>
            <a:r>
              <a:t>BCA • Data Structures &amp; Algorithms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Flowchart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146304"/>
            <a:ext cx="502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097280"/>
            <a:ext cx="169164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7365D"/>
                </a:solidFill>
              </a:defRPr>
            </a:pPr>
            <a:r>
              <a:t>START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65960"/>
            <a:ext cx="169164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7365D"/>
                </a:solidFill>
              </a:defRPr>
            </a:pPr>
            <a:r>
              <a:t>Select Source</a:t>
            </a:r>
            <a:br/>
            <a:r>
              <a:t>Folder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63240" y="1965960"/>
            <a:ext cx="169164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7365D"/>
                </a:solidFill>
              </a:defRPr>
            </a:pPr>
            <a:r>
              <a:t>Read File</a:t>
            </a:r>
            <a:br/>
            <a:r>
              <a:t>Name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94960" y="1965960"/>
            <a:ext cx="169164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7365D"/>
                </a:solidFill>
              </a:defRPr>
            </a:pPr>
            <a:r>
              <a:t>Get File</a:t>
            </a:r>
            <a:br/>
            <a:r>
              <a:t>Extension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26679" y="1965960"/>
            <a:ext cx="169164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7365D"/>
                </a:solidFill>
              </a:defRPr>
            </a:pPr>
            <a:r>
              <a:t>Identify</a:t>
            </a:r>
            <a:br/>
            <a:r>
              <a:t>File Type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94960" y="3886200"/>
            <a:ext cx="169164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7365D"/>
                </a:solidFill>
              </a:defRPr>
            </a:pPr>
            <a:r>
              <a:t>Select / Create</a:t>
            </a:r>
            <a:br/>
            <a:r>
              <a:t>Folder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63240" y="3886200"/>
            <a:ext cx="169164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7365D"/>
                </a:solidFill>
              </a:defRPr>
            </a:pPr>
            <a:r>
              <a:t>Move File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886200"/>
            <a:ext cx="169164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7365D"/>
                </a:solidFill>
              </a:defRPr>
            </a:pPr>
            <a:r>
              <a:t>More Files?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166360"/>
            <a:ext cx="169164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7365D"/>
                </a:solidFill>
              </a:defRPr>
            </a:pPr>
            <a:r>
              <a:t>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87168" y="2139696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2F5597"/>
                </a:solidFill>
              </a:defRPr>
            </a:pPr>
            <a: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18888" y="2139696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2F5597"/>
                </a:solidFill>
              </a:defRPr>
            </a:pPr>
            <a: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50608" y="2139696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2F5597"/>
                </a:solidFill>
              </a:defRPr>
            </a:pPr>
            <a: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306324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2F5597"/>
                </a:solidFill>
              </a:defRPr>
            </a:pPr>
            <a:r>
              <a:t>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4059936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2F5597"/>
                </a:solidFill>
              </a:defRPr>
            </a:pPr>
            <a:r>
              <a:t>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4059936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2F5597"/>
                </a:solidFill>
              </a:defRPr>
            </a:pPr>
            <a:r>
              <a:t>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681728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2F5597"/>
                </a:solidFill>
              </a:defRPr>
            </a:pPr>
            <a:r>
              <a:t>↓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6537960"/>
            <a:ext cx="11155680" cy="18288"/>
          </a:xfrm>
          <a:prstGeom prst="rect">
            <a:avLst/>
          </a:prstGeom>
          <a:solidFill>
            <a:srgbClr val="BEC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6574536"/>
            <a:ext cx="5486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37D"/>
                </a:solidFill>
              </a:defRPr>
            </a:pPr>
            <a:r>
              <a:t>BCA • Data Structures &amp; Algorithms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Implementation &amp; Technology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146304"/>
            <a:ext cx="502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>
                <a:solidFill>
                  <a:srgbClr val="FFFFFF"/>
                </a:solidFill>
              </a:defRPr>
            </a:pPr>
            <a: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1206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BEC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508760"/>
            <a:ext cx="4480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2F5597"/>
                </a:solidFill>
              </a:defRPr>
            </a:pPr>
            <a:r>
              <a:t>Technology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057400"/>
            <a:ext cx="44805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32B34"/>
                </a:solidFill>
              </a:defRPr>
            </a:pPr>
            <a:r>
              <a:t>• Programming Language: C</a:t>
            </a:r>
          </a:p>
          <a:p>
            <a:pPr>
              <a:spcAft>
                <a:spcPts val="1200"/>
              </a:spcAft>
              <a:defRPr sz="1700">
                <a:solidFill>
                  <a:srgbClr val="232B34"/>
                </a:solidFill>
              </a:defRPr>
            </a:pPr>
            <a:r>
              <a:t>• Development: VS Code / Code::Blocks</a:t>
            </a:r>
          </a:p>
          <a:p>
            <a:pPr>
              <a:spcAft>
                <a:spcPts val="1200"/>
              </a:spcAft>
              <a:defRPr sz="1700">
                <a:solidFill>
                  <a:srgbClr val="232B34"/>
                </a:solidFill>
              </a:defRPr>
            </a:pPr>
            <a:r>
              <a:t>• Operating System: Windows</a:t>
            </a:r>
          </a:p>
          <a:p>
            <a:pPr>
              <a:spcAft>
                <a:spcPts val="1200"/>
              </a:spcAft>
              <a:defRPr sz="1700">
                <a:solidFill>
                  <a:srgbClr val="232B34"/>
                </a:solidFill>
              </a:defRPr>
            </a:pPr>
            <a:r>
              <a:t>• File handling + OS functions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34440"/>
            <a:ext cx="51206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BEC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59" y="1508760"/>
            <a:ext cx="4480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2F5597"/>
                </a:solidFill>
              </a:defRPr>
            </a:pPr>
            <a:r>
              <a:t>C Concepts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59" y="2057400"/>
            <a:ext cx="44805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32B34"/>
                </a:solidFill>
              </a:defRPr>
            </a:pPr>
            <a:r>
              <a:t>• Variables and data types</a:t>
            </a:r>
          </a:p>
          <a:p>
            <a:pPr>
              <a:spcAft>
                <a:spcPts val="1200"/>
              </a:spcAft>
              <a:defRPr sz="1700">
                <a:solidFill>
                  <a:srgbClr val="232B34"/>
                </a:solidFill>
              </a:defRPr>
            </a:pPr>
            <a:r>
              <a:t>• Arrays and strings</a:t>
            </a:r>
          </a:p>
          <a:p>
            <a:pPr>
              <a:spcAft>
                <a:spcPts val="1200"/>
              </a:spcAft>
              <a:defRPr sz="1700">
                <a:solidFill>
                  <a:srgbClr val="232B34"/>
                </a:solidFill>
              </a:defRPr>
            </a:pPr>
            <a:r>
              <a:t>• Structures</a:t>
            </a:r>
          </a:p>
          <a:p>
            <a:pPr>
              <a:spcAft>
                <a:spcPts val="1200"/>
              </a:spcAft>
              <a:defRPr sz="1700">
                <a:solidFill>
                  <a:srgbClr val="232B34"/>
                </a:solidFill>
              </a:defRPr>
            </a:pPr>
            <a:r>
              <a:t>• Functions</a:t>
            </a:r>
          </a:p>
          <a:p>
            <a:pPr>
              <a:spcAft>
                <a:spcPts val="1200"/>
              </a:spcAft>
              <a:defRPr sz="1700">
                <a:solidFill>
                  <a:srgbClr val="232B34"/>
                </a:solidFill>
              </a:defRPr>
            </a:pPr>
            <a:r>
              <a:t>• Conditions and loops</a:t>
            </a:r>
          </a:p>
          <a:p>
            <a:pPr>
              <a:spcAft>
                <a:spcPts val="1200"/>
              </a:spcAft>
              <a:defRPr sz="1700">
                <a:solidFill>
                  <a:srgbClr val="232B34"/>
                </a:solidFill>
              </a:defRPr>
            </a:pPr>
            <a:r>
              <a:t>• File handling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6537960"/>
            <a:ext cx="11155680" cy="18288"/>
          </a:xfrm>
          <a:prstGeom prst="rect">
            <a:avLst/>
          </a:prstGeom>
          <a:solidFill>
            <a:srgbClr val="BEC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6574536"/>
            <a:ext cx="5486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37D"/>
                </a:solidFill>
              </a:defRPr>
            </a:pPr>
            <a:r>
              <a:t>BCA • Data Structures &amp; Algorithms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Sample Output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146304"/>
            <a:ext cx="502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>
                <a:solidFill>
                  <a:srgbClr val="FFFFFF"/>
                </a:solidFill>
              </a:defRPr>
            </a:pPr>
            <a: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188720"/>
            <a:ext cx="10241280" cy="4389120"/>
          </a:xfrm>
          <a:prstGeom prst="roundRect">
            <a:avLst/>
          </a:prstGeom>
          <a:solidFill>
            <a:srgbClr val="191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1508760"/>
            <a:ext cx="9509760" cy="37490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Consolas"/>
              </a:defRPr>
            </a:pPr>
            <a:r>
              <a:t>===== FILE AND FOLDER ORGANIZER =====</a:t>
            </a:r>
          </a:p>
          <a:p>
            <a:pPr>
              <a:defRPr sz="1600">
                <a:solidFill>
                  <a:srgbClr val="FFFFFF"/>
                </a:solidFill>
                <a:latin typeface="Consolas"/>
              </a:defRPr>
            </a:pPr>
          </a:p>
          <a:p>
            <a:pPr>
              <a:defRPr sz="1600">
                <a:solidFill>
                  <a:srgbClr val="FFFFFF"/>
                </a:solidFill>
                <a:latin typeface="Consolas"/>
              </a:defRPr>
            </a:pPr>
            <a:r>
              <a:t>Enter folder path:</a:t>
            </a:r>
          </a:p>
          <a:p>
            <a:pPr>
              <a:defRPr sz="1600">
                <a:solidFill>
                  <a:srgbClr val="FFFFFF"/>
                </a:solidFill>
                <a:latin typeface="Consolas"/>
              </a:defRPr>
            </a:pPr>
            <a:r>
              <a:t>C:\Users\Student\Downloads</a:t>
            </a:r>
          </a:p>
          <a:p>
            <a:pPr>
              <a:defRPr sz="1600">
                <a:solidFill>
                  <a:srgbClr val="FFFFFF"/>
                </a:solidFill>
                <a:latin typeface="Consolas"/>
              </a:defRPr>
            </a:pPr>
          </a:p>
          <a:p>
            <a:pPr>
              <a:defRPr sz="1600">
                <a:solidFill>
                  <a:srgbClr val="FFFFFF"/>
                </a:solidFill>
                <a:latin typeface="Consolas"/>
              </a:defRPr>
            </a:pPr>
            <a:r>
              <a:t>Organizing files...</a:t>
            </a:r>
          </a:p>
          <a:p>
            <a:pPr>
              <a:defRPr sz="1600">
                <a:solidFill>
                  <a:srgbClr val="FFFFFF"/>
                </a:solidFill>
                <a:latin typeface="Consolas"/>
              </a:defRPr>
            </a:pPr>
          </a:p>
          <a:p>
            <a:pPr>
              <a:defRPr sz="1600">
                <a:solidFill>
                  <a:srgbClr val="FFFFFF"/>
                </a:solidFill>
                <a:latin typeface="Consolas"/>
              </a:defRPr>
            </a:pPr>
            <a:r>
              <a:t>photo.jpg   → Images</a:t>
            </a:r>
          </a:p>
          <a:p>
            <a:pPr>
              <a:defRPr sz="1600">
                <a:solidFill>
                  <a:srgbClr val="FFFFFF"/>
                </a:solidFill>
                <a:latin typeface="Consolas"/>
              </a:defRPr>
            </a:pPr>
            <a:r>
              <a:t>notes.pdf   → Documents</a:t>
            </a:r>
          </a:p>
          <a:p>
            <a:pPr>
              <a:defRPr sz="1600">
                <a:solidFill>
                  <a:srgbClr val="FFFFFF"/>
                </a:solidFill>
                <a:latin typeface="Consolas"/>
              </a:defRPr>
            </a:pPr>
            <a:r>
              <a:t>song.mp3    → Music</a:t>
            </a:r>
          </a:p>
          <a:p>
            <a:pPr>
              <a:defRPr sz="1600">
                <a:solidFill>
                  <a:srgbClr val="FFFFFF"/>
                </a:solidFill>
                <a:latin typeface="Consolas"/>
              </a:defRPr>
            </a:pPr>
            <a:r>
              <a:t>movie.mp4   → Videos</a:t>
            </a:r>
          </a:p>
          <a:p>
            <a:pPr>
              <a:defRPr sz="1600">
                <a:solidFill>
                  <a:srgbClr val="FFFFFF"/>
                </a:solidFill>
                <a:latin typeface="Consolas"/>
              </a:defRPr>
            </a:pPr>
            <a:r>
              <a:t>program.c   → Code</a:t>
            </a:r>
          </a:p>
          <a:p>
            <a:pPr>
              <a:defRPr sz="1600">
                <a:solidFill>
                  <a:srgbClr val="FFFFFF"/>
                </a:solidFill>
                <a:latin typeface="Consolas"/>
              </a:defRPr>
            </a:pPr>
          </a:p>
          <a:p>
            <a:pPr>
              <a:defRPr sz="1600">
                <a:solidFill>
                  <a:srgbClr val="FFFFFF"/>
                </a:solidFill>
                <a:latin typeface="Consolas"/>
              </a:defRPr>
            </a:pPr>
            <a:r>
              <a:t>Organization Completed Successfully!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537960"/>
            <a:ext cx="11155680" cy="18288"/>
          </a:xfrm>
          <a:prstGeom prst="rect">
            <a:avLst/>
          </a:prstGeom>
          <a:solidFill>
            <a:srgbClr val="BEC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74536"/>
            <a:ext cx="5486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37D"/>
                </a:solidFill>
              </a:defRPr>
            </a:pPr>
            <a:r>
              <a:t>BCA • Data Structures &amp; Algorithms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Advantages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146304"/>
            <a:ext cx="502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>
                <a:solidFill>
                  <a:srgbClr val="FFFFFF"/>
                </a:solidFill>
              </a:defRPr>
            </a:pPr>
            <a: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188720"/>
            <a:ext cx="50292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BEC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232B34"/>
                </a:solidFill>
              </a:defRPr>
            </a:pPr>
            <a:r>
              <a:t>✓  Saves time and effort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59" y="1188720"/>
            <a:ext cx="50292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BEC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232B34"/>
                </a:solidFill>
              </a:defRPr>
            </a:pPr>
            <a:r>
              <a:t>✓  Reduces file clutter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423160"/>
            <a:ext cx="50292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BEC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232B34"/>
                </a:solidFill>
              </a:defRPr>
            </a:pPr>
            <a:r>
              <a:t>✓  Makes files easier to find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59" y="2423160"/>
            <a:ext cx="50292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BEC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232B34"/>
                </a:solidFill>
              </a:defRPr>
            </a:pPr>
            <a:r>
              <a:t>✓  Automatically categorizes files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657600"/>
            <a:ext cx="50292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BEC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232B34"/>
                </a:solidFill>
              </a:defRPr>
            </a:pPr>
            <a:r>
              <a:t>✓  Simple and easy to use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59" y="3657600"/>
            <a:ext cx="50292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BEC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232B34"/>
                </a:solidFill>
              </a:defRPr>
            </a:pPr>
            <a:r>
              <a:t>✓  Shows a real-world application of DSA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892040"/>
            <a:ext cx="50292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BEC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232B34"/>
                </a:solidFill>
              </a:defRPr>
            </a:pPr>
            <a:r>
              <a:t>✓  Can be customized with more categories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6537960"/>
            <a:ext cx="11155680" cy="18288"/>
          </a:xfrm>
          <a:prstGeom prst="rect">
            <a:avLst/>
          </a:prstGeom>
          <a:solidFill>
            <a:srgbClr val="BEC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6574536"/>
            <a:ext cx="5486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37D"/>
                </a:solidFill>
              </a:defRPr>
            </a:pPr>
            <a:r>
              <a:t>BCA • Data Structures &amp; Algorithms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Limitations &amp; Future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146304"/>
            <a:ext cx="502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>
                <a:solidFill>
                  <a:srgbClr val="FFFFFF"/>
                </a:solidFill>
              </a:defRPr>
            </a:pPr>
            <a: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143000"/>
            <a:ext cx="5212080" cy="5029200"/>
          </a:xfrm>
          <a:prstGeom prst="roundRect">
            <a:avLst/>
          </a:prstGeom>
          <a:solidFill>
            <a:srgbClr val="FFFFFF"/>
          </a:solidFill>
          <a:ln>
            <a:solidFill>
              <a:srgbClr val="BEC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19" y="1417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2F5597"/>
                </a:solidFill>
              </a:defRPr>
            </a:pPr>
            <a:r>
              <a:t>Limitations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19" y="196596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32B34"/>
                </a:solidFill>
              </a:defRPr>
            </a:pPr>
            <a:r>
              <a:t>• Predefined categories</a:t>
            </a:r>
          </a:p>
          <a:p>
            <a:pPr>
              <a:spcAft>
                <a:spcPts val="1200"/>
              </a:spcAft>
              <a:defRPr sz="1700">
                <a:solidFill>
                  <a:srgbClr val="232B34"/>
                </a:solidFill>
              </a:defRPr>
            </a:pPr>
            <a:r>
              <a:t>• Uncommon extensions may not be recognized</a:t>
            </a:r>
          </a:p>
          <a:p>
            <a:pPr>
              <a:spcAft>
                <a:spcPts val="1200"/>
              </a:spcAft>
              <a:defRPr sz="1700">
                <a:solidFill>
                  <a:srgbClr val="232B34"/>
                </a:solidFill>
              </a:defRPr>
            </a:pPr>
            <a:r>
              <a:t>• Wrong extensions may cause misclassification</a:t>
            </a:r>
          </a:p>
          <a:p>
            <a:pPr>
              <a:spcAft>
                <a:spcPts val="1200"/>
              </a:spcAft>
              <a:defRPr sz="1700">
                <a:solidFill>
                  <a:srgbClr val="232B34"/>
                </a:solidFill>
              </a:defRPr>
            </a:pPr>
            <a:r>
              <a:t>• Basic versions may have limited error handling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143000"/>
            <a:ext cx="5212080" cy="5029200"/>
          </a:xfrm>
          <a:prstGeom prst="roundRect">
            <a:avLst/>
          </a:prstGeom>
          <a:solidFill>
            <a:srgbClr val="FFFFFF"/>
          </a:solidFill>
          <a:ln>
            <a:solidFill>
              <a:srgbClr val="BEC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1417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2F5597"/>
                </a:solidFill>
              </a:defRPr>
            </a:pPr>
            <a:r>
              <a:t>Future Scope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196596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32B34"/>
                </a:solidFill>
              </a:defRPr>
            </a:pPr>
            <a:r>
              <a:t>• GUI-based organizer</a:t>
            </a:r>
          </a:p>
          <a:p>
            <a:pPr>
              <a:spcAft>
                <a:spcPts val="1200"/>
              </a:spcAft>
              <a:defRPr sz="1700">
                <a:solidFill>
                  <a:srgbClr val="232B34"/>
                </a:solidFill>
              </a:defRPr>
            </a:pPr>
            <a:r>
              <a:t>• Drag-and-drop functionality</a:t>
            </a:r>
          </a:p>
          <a:p>
            <a:pPr>
              <a:spcAft>
                <a:spcPts val="1200"/>
              </a:spcAft>
              <a:defRPr sz="1700">
                <a:solidFill>
                  <a:srgbClr val="232B34"/>
                </a:solidFill>
              </a:defRPr>
            </a:pPr>
            <a:r>
              <a:t>• Custom categories</a:t>
            </a:r>
          </a:p>
          <a:p>
            <a:pPr>
              <a:spcAft>
                <a:spcPts val="1200"/>
              </a:spcAft>
              <a:defRPr sz="1700">
                <a:solidFill>
                  <a:srgbClr val="232B34"/>
                </a:solidFill>
              </a:defRPr>
            </a:pPr>
            <a:r>
              <a:t>• Duplicate-file detection</a:t>
            </a:r>
          </a:p>
          <a:p>
            <a:pPr>
              <a:spcAft>
                <a:spcPts val="1200"/>
              </a:spcAft>
              <a:defRPr sz="1700">
                <a:solidFill>
                  <a:srgbClr val="232B34"/>
                </a:solidFill>
              </a:defRPr>
            </a:pPr>
            <a:r>
              <a:t>• Search and sorting</a:t>
            </a:r>
          </a:p>
          <a:p>
            <a:pPr>
              <a:spcAft>
                <a:spcPts val="1200"/>
              </a:spcAft>
              <a:defRPr sz="1700">
                <a:solidFill>
                  <a:srgbClr val="232B34"/>
                </a:solidFill>
              </a:defRPr>
            </a:pPr>
            <a:r>
              <a:t>• Automatic scheduled organization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6537960"/>
            <a:ext cx="11155680" cy="18288"/>
          </a:xfrm>
          <a:prstGeom prst="rect">
            <a:avLst/>
          </a:prstGeom>
          <a:solidFill>
            <a:srgbClr val="BEC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6574536"/>
            <a:ext cx="5486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37D"/>
                </a:solidFill>
              </a:defRPr>
            </a:pPr>
            <a:r>
              <a:t>BCA • Data Structures &amp; Algorithms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965960"/>
            <a:ext cx="1005840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FFFFFF"/>
                </a:solidFill>
              </a:defRPr>
            </a:pPr>
            <a:r>
              <a:t>The File and Folder Organizer provides a simple solution for managing files.</a:t>
            </a:r>
          </a:p>
          <a:p>
            <a:pPr>
              <a:spcAft>
                <a:spcPts val="1200"/>
              </a:spcAft>
              <a:defRPr sz="2100">
                <a:solidFill>
                  <a:srgbClr val="FFFFFF"/>
                </a:solidFill>
              </a:defRPr>
            </a:pPr>
          </a:p>
          <a:p>
            <a:pPr>
              <a:spcAft>
                <a:spcPts val="1200"/>
              </a:spcAft>
              <a:defRPr sz="2100">
                <a:solidFill>
                  <a:srgbClr val="FFFFFF"/>
                </a:solidFill>
              </a:defRPr>
            </a:pPr>
            <a:r>
              <a:t>It classifies and organizes files based on their extensions.</a:t>
            </a:r>
          </a:p>
          <a:p>
            <a:pPr>
              <a:spcAft>
                <a:spcPts val="1200"/>
              </a:spcAft>
              <a:defRPr sz="2100">
                <a:solidFill>
                  <a:srgbClr val="FFFFFF"/>
                </a:solidFill>
              </a:defRPr>
            </a:pPr>
          </a:p>
          <a:p>
            <a:pPr>
              <a:spcAft>
                <a:spcPts val="1200"/>
              </a:spcAft>
              <a:defRPr sz="2100">
                <a:solidFill>
                  <a:srgbClr val="FFFFFF"/>
                </a:solidFill>
              </a:defRPr>
            </a:pPr>
            <a:r>
              <a:t>The project demonstrates the practical use of DSA concepts using 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507492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B4D7F5"/>
                </a:solidFill>
              </a:defRPr>
            </a:pPr>
            <a:r>
              <a:t>THANK YOU  •  ANY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